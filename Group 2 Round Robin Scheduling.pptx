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3" r:id="rId3"/>
    <p:sldId id="279" r:id="rId4"/>
    <p:sldId id="259" r:id="rId5"/>
    <p:sldId id="280" r:id="rId6"/>
    <p:sldId id="282" r:id="rId7"/>
    <p:sldId id="283" r:id="rId8"/>
    <p:sldId id="284" r:id="rId9"/>
    <p:sldId id="285" r:id="rId10"/>
    <p:sldId id="260" r:id="rId11"/>
    <p:sldId id="263" r:id="rId12"/>
    <p:sldId id="277" r:id="rId13"/>
    <p:sldId id="281" r:id="rId14"/>
    <p:sldId id="278" r:id="rId15"/>
    <p:sldId id="270" r:id="rId16"/>
    <p:sldId id="272" r:id="rId17"/>
  </p:sldIdLst>
  <p:sldSz cx="18288000" cy="10287000"/>
  <p:notesSz cx="6858000" cy="9144000"/>
  <p:embeddedFontLst>
    <p:embeddedFont>
      <p:font typeface="Inter Bold" panose="020B0604020202020204" charset="0"/>
      <p:regular r:id="rId18"/>
    </p:embeddedFont>
    <p:embeddedFont>
      <p:font typeface="Poppins Bold" panose="020B0604020202020204" charset="0"/>
      <p:regular r:id="rId19"/>
    </p:embeddedFont>
    <p:embeddedFont>
      <p:font typeface="TT Fors" panose="020B0604020202020204" charset="0"/>
      <p:regular r:id="rId20"/>
    </p:embeddedFont>
    <p:embeddedFont>
      <p:font typeface="TT For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74462C-168A-4EFB-8FA8-581B80B2E2CE}" v="36" dt="2026-05-22T15:13:32.1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89301" y="6424257"/>
            <a:ext cx="13709398" cy="706705"/>
            <a:chOff x="0" y="0"/>
            <a:chExt cx="3610706" cy="1861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10706" cy="186128"/>
            </a:xfrm>
            <a:custGeom>
              <a:avLst/>
              <a:gdLst/>
              <a:ahLst/>
              <a:cxnLst/>
              <a:rect l="l" t="t" r="r" b="b"/>
              <a:pathLst>
                <a:path w="3610706" h="186128">
                  <a:moveTo>
                    <a:pt x="0" y="0"/>
                  </a:moveTo>
                  <a:lnTo>
                    <a:pt x="3610706" y="0"/>
                  </a:lnTo>
                  <a:lnTo>
                    <a:pt x="3610706" y="186128"/>
                  </a:lnTo>
                  <a:lnTo>
                    <a:pt x="0" y="186128"/>
                  </a:lnTo>
                  <a:close/>
                </a:path>
              </a:pathLst>
            </a:custGeom>
            <a:solidFill>
              <a:srgbClr val="6C0B7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610706" cy="2051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146110" y="1009650"/>
            <a:ext cx="98847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HOME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60085" y="1009650"/>
            <a:ext cx="151606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DISCUSSION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701651" y="1009650"/>
            <a:ext cx="155764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52007" y="4218201"/>
            <a:ext cx="11403546" cy="11960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9257"/>
              </a:lnSpc>
            </a:pPr>
            <a:r>
              <a:rPr lang="en-US" sz="10000" b="1" dirty="0">
                <a:solidFill>
                  <a:srgbClr val="0CC0DF"/>
                </a:solidFill>
                <a:latin typeface="Inter Bold"/>
                <a:ea typeface="Inter Bold"/>
                <a:cs typeface="Inter Bold"/>
                <a:sym typeface="Inter Bold"/>
              </a:rPr>
              <a:t>Round Robin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52007" y="2733525"/>
            <a:ext cx="11403546" cy="924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7434"/>
              </a:lnSpc>
              <a:spcBef>
                <a:spcPct val="0"/>
              </a:spcBef>
            </a:pPr>
            <a:r>
              <a:rPr lang="en-US" sz="5763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INTRODUCTION TO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86281" y="7372045"/>
            <a:ext cx="8715438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39"/>
              </a:lnSpc>
              <a:spcBef>
                <a:spcPct val="0"/>
              </a:spcBef>
            </a:pPr>
            <a:r>
              <a:rPr lang="en-US" sz="3099" spc="92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Presented by Group 2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F5A58-838D-4E52-E4EB-A2875048C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3A9832-C214-E58A-041B-BB9BE2A2177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4805124-FFCC-2C5B-B272-73770A658E36}"/>
              </a:ext>
            </a:extLst>
          </p:cNvPr>
          <p:cNvSpPr txBox="1"/>
          <p:nvPr/>
        </p:nvSpPr>
        <p:spPr>
          <a:xfrm>
            <a:off x="12146110" y="1009650"/>
            <a:ext cx="98847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HOME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BAD43B6-AD15-1024-5D10-F1DEFA52C6C8}"/>
              </a:ext>
            </a:extLst>
          </p:cNvPr>
          <p:cNvSpPr txBox="1"/>
          <p:nvPr/>
        </p:nvSpPr>
        <p:spPr>
          <a:xfrm>
            <a:off x="13660085" y="1009650"/>
            <a:ext cx="151606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DISCUSSION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1F93F55-E729-E746-48D3-98C5A39081D9}"/>
              </a:ext>
            </a:extLst>
          </p:cNvPr>
          <p:cNvSpPr txBox="1"/>
          <p:nvPr/>
        </p:nvSpPr>
        <p:spPr>
          <a:xfrm>
            <a:off x="15701651" y="1009650"/>
            <a:ext cx="155764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CONCLUSION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E14DF3A-CCC1-84EE-A684-B8921AD9A7C4}"/>
              </a:ext>
            </a:extLst>
          </p:cNvPr>
          <p:cNvSpPr txBox="1"/>
          <p:nvPr/>
        </p:nvSpPr>
        <p:spPr>
          <a:xfrm>
            <a:off x="858776" y="-76994"/>
            <a:ext cx="8509819" cy="10297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>
              <a:lnSpc>
                <a:spcPts val="7434"/>
              </a:lnSpc>
              <a:spcBef>
                <a:spcPct val="0"/>
              </a:spcBef>
            </a:pPr>
            <a: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Members: </a:t>
            </a:r>
            <a:b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</a:br>
            <a: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Von Jaycel Bas</a:t>
            </a:r>
            <a:b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</a:br>
            <a: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Regie Garcia</a:t>
            </a:r>
            <a:b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</a:br>
            <a: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Jhon </a:t>
            </a:r>
            <a:r>
              <a:rPr lang="en-US" sz="2500" b="1" spc="1440" dirty="0" err="1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Abito</a:t>
            </a:r>
            <a:b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</a:br>
            <a: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Ian James </a:t>
            </a:r>
            <a:b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</a:br>
            <a: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Lyndon Charls </a:t>
            </a:r>
            <a:r>
              <a:rPr lang="en-US" sz="2500" b="1" spc="1440" dirty="0" err="1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Lawagon</a:t>
            </a:r>
            <a:endParaRPr lang="en-US" sz="2500" b="1" spc="1440" dirty="0">
              <a:solidFill>
                <a:srgbClr val="FFFFFF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0" lvl="1" indent="0">
              <a:lnSpc>
                <a:spcPts val="7434"/>
              </a:lnSpc>
              <a:spcBef>
                <a:spcPct val="0"/>
              </a:spcBef>
            </a:pPr>
            <a: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Trina Bantug</a:t>
            </a:r>
            <a:b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</a:br>
            <a: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Rhea Sabal</a:t>
            </a:r>
            <a:b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</a:br>
            <a: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Hannah Camille</a:t>
            </a:r>
            <a:b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</a:br>
            <a: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Cathrine </a:t>
            </a:r>
            <a:r>
              <a:rPr lang="en-US" sz="2500" b="1" spc="1440" dirty="0" err="1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Esconde</a:t>
            </a:r>
            <a:endParaRPr lang="en-US" sz="2500" b="1" spc="1440" dirty="0">
              <a:solidFill>
                <a:srgbClr val="FFFFFF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0" lvl="1" indent="0">
              <a:lnSpc>
                <a:spcPts val="7434"/>
              </a:lnSpc>
              <a:spcBef>
                <a:spcPct val="0"/>
              </a:spcBef>
            </a:pPr>
            <a:r>
              <a:rPr lang="en-US" sz="2500" b="1" spc="144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Rissa Sabal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A12FDC0-B837-10EB-CDA8-0AB3DF3AF3C7}"/>
              </a:ext>
            </a:extLst>
          </p:cNvPr>
          <p:cNvSpPr txBox="1"/>
          <p:nvPr/>
        </p:nvSpPr>
        <p:spPr>
          <a:xfrm>
            <a:off x="5334000" y="9523862"/>
            <a:ext cx="8715438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39"/>
              </a:lnSpc>
              <a:spcBef>
                <a:spcPct val="0"/>
              </a:spcBef>
            </a:pPr>
            <a:r>
              <a:rPr lang="en-US" sz="3099" b="1" spc="92" dirty="0">
                <a:solidFill>
                  <a:schemeClr val="accent5"/>
                </a:solidFill>
                <a:latin typeface="TT Fors"/>
                <a:ea typeface="TT Fors"/>
                <a:cs typeface="TT Fors"/>
                <a:sym typeface="TT Fors"/>
              </a:rPr>
              <a:t>Presented by Group 2</a:t>
            </a:r>
          </a:p>
        </p:txBody>
      </p:sp>
    </p:spTree>
    <p:extLst>
      <p:ext uri="{BB962C8B-B14F-4D97-AF65-F5344CB8AC3E}">
        <p14:creationId xmlns:p14="http://schemas.microsoft.com/office/powerpoint/2010/main" val="149071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BE5DB-D1E9-01FF-1511-2EC1CA096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EDCF152-017B-13D5-F277-4F0D8B8F8FC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047B8C0-97B8-C42E-51C7-05DEF1377565}"/>
              </a:ext>
            </a:extLst>
          </p:cNvPr>
          <p:cNvSpPr txBox="1"/>
          <p:nvPr/>
        </p:nvSpPr>
        <p:spPr>
          <a:xfrm>
            <a:off x="6814133" y="1906112"/>
            <a:ext cx="8362021" cy="1052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25"/>
              </a:lnSpc>
            </a:pPr>
            <a:r>
              <a:rPr lang="en-PH" sz="8000" dirty="0">
                <a:solidFill>
                  <a:schemeClr val="bg1"/>
                </a:solidFill>
              </a:rPr>
              <a:t>Introduction</a:t>
            </a:r>
            <a:endParaRPr lang="en-US" sz="7500" b="1" dirty="0">
              <a:solidFill>
                <a:schemeClr val="bg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78024DE-04D2-E992-A4A7-28CFEB6BD6D9}"/>
              </a:ext>
            </a:extLst>
          </p:cNvPr>
          <p:cNvSpPr txBox="1"/>
          <p:nvPr/>
        </p:nvSpPr>
        <p:spPr>
          <a:xfrm>
            <a:off x="1259805" y="3543300"/>
            <a:ext cx="15232960" cy="4985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Round Robin Scheduling is a CPU scheduling algorithm that assigns time slices (quantum) to processes.</a:t>
            </a:r>
          </a:p>
          <a:p>
            <a:endParaRPr lang="en-US" sz="5400" dirty="0">
              <a:solidFill>
                <a:schemeClr val="bg1"/>
              </a:solidFill>
            </a:endParaRPr>
          </a:p>
          <a:p>
            <a:r>
              <a:rPr lang="en-US" sz="5400" dirty="0">
                <a:solidFill>
                  <a:schemeClr val="bg1"/>
                </a:solidFill>
              </a:rPr>
              <a:t>- Each process gets equal CPU time in cyclic order.</a:t>
            </a:r>
          </a:p>
          <a:p>
            <a:r>
              <a:rPr lang="en-US" sz="5400" dirty="0">
                <a:solidFill>
                  <a:schemeClr val="bg1"/>
                </a:solidFill>
              </a:rPr>
              <a:t>- Ensures fairness and avoids starvation.</a:t>
            </a:r>
          </a:p>
          <a:p>
            <a:r>
              <a:rPr lang="en-US" sz="5400" dirty="0">
                <a:solidFill>
                  <a:schemeClr val="bg1"/>
                </a:solidFill>
              </a:rPr>
              <a:t>- Commonly used in time-sharing systems.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5AF8491-1BFB-9F04-61AD-8598734F079C}"/>
              </a:ext>
            </a:extLst>
          </p:cNvPr>
          <p:cNvSpPr txBox="1"/>
          <p:nvPr/>
        </p:nvSpPr>
        <p:spPr>
          <a:xfrm>
            <a:off x="12146110" y="1009650"/>
            <a:ext cx="98847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HOME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C0CA403-28F3-87E5-74F1-300FF80B0F50}"/>
              </a:ext>
            </a:extLst>
          </p:cNvPr>
          <p:cNvSpPr txBox="1"/>
          <p:nvPr/>
        </p:nvSpPr>
        <p:spPr>
          <a:xfrm>
            <a:off x="13660085" y="1009650"/>
            <a:ext cx="151606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DISCUSSION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0A9D7D2-ED27-DE0E-4116-12D0F82FE1A7}"/>
              </a:ext>
            </a:extLst>
          </p:cNvPr>
          <p:cNvSpPr txBox="1"/>
          <p:nvPr/>
        </p:nvSpPr>
        <p:spPr>
          <a:xfrm>
            <a:off x="15701651" y="1009650"/>
            <a:ext cx="155764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749914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830869" y="2162691"/>
            <a:ext cx="5649823" cy="5917883"/>
            <a:chOff x="0" y="0"/>
            <a:chExt cx="1488019" cy="15586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8019" cy="1558619"/>
            </a:xfrm>
            <a:custGeom>
              <a:avLst/>
              <a:gdLst/>
              <a:ahLst/>
              <a:cxnLst/>
              <a:rect l="l" t="t" r="r" b="b"/>
              <a:pathLst>
                <a:path w="1488019" h="1558619">
                  <a:moveTo>
                    <a:pt x="0" y="0"/>
                  </a:moveTo>
                  <a:lnTo>
                    <a:pt x="1488019" y="0"/>
                  </a:lnTo>
                  <a:lnTo>
                    <a:pt x="1488019" y="1558619"/>
                  </a:lnTo>
                  <a:lnTo>
                    <a:pt x="0" y="1558619"/>
                  </a:lnTo>
                  <a:close/>
                </a:path>
              </a:pathLst>
            </a:custGeom>
            <a:solidFill>
              <a:srgbClr val="3A054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488019" cy="1577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405395" y="4551318"/>
            <a:ext cx="1309371" cy="478928"/>
            <a:chOff x="0" y="0"/>
            <a:chExt cx="344855" cy="1261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4855" cy="126137"/>
            </a:xfrm>
            <a:custGeom>
              <a:avLst/>
              <a:gdLst/>
              <a:ahLst/>
              <a:cxnLst/>
              <a:rect l="l" t="t" r="r" b="b"/>
              <a:pathLst>
                <a:path w="344855" h="126137">
                  <a:moveTo>
                    <a:pt x="0" y="0"/>
                  </a:moveTo>
                  <a:lnTo>
                    <a:pt x="344855" y="0"/>
                  </a:lnTo>
                  <a:lnTo>
                    <a:pt x="344855" y="126137"/>
                  </a:lnTo>
                  <a:lnTo>
                    <a:pt x="0" y="126137"/>
                  </a:lnTo>
                  <a:close/>
                </a:path>
              </a:pathLst>
            </a:custGeom>
            <a:solidFill>
              <a:srgbClr val="6C0B7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344855" cy="145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2722859"/>
            <a:ext cx="7765627" cy="4841283"/>
            <a:chOff x="0" y="0"/>
            <a:chExt cx="1203099" cy="750041"/>
          </a:xfrm>
        </p:grpSpPr>
        <p:sp>
          <p:nvSpPr>
            <p:cNvPr id="10" name="Freeform 10"/>
            <p:cNvSpPr/>
            <p:nvPr/>
          </p:nvSpPr>
          <p:spPr>
            <a:xfrm flipH="1">
              <a:off x="0" y="0"/>
              <a:ext cx="1203099" cy="750041"/>
            </a:xfrm>
            <a:custGeom>
              <a:avLst/>
              <a:gdLst/>
              <a:ahLst/>
              <a:cxnLst/>
              <a:rect l="l" t="t" r="r" b="b"/>
              <a:pathLst>
                <a:path w="1203099" h="750041">
                  <a:moveTo>
                    <a:pt x="1203099" y="0"/>
                  </a:moveTo>
                  <a:lnTo>
                    <a:pt x="0" y="0"/>
                  </a:lnTo>
                  <a:lnTo>
                    <a:pt x="0" y="750041"/>
                  </a:lnTo>
                  <a:lnTo>
                    <a:pt x="1203099" y="750041"/>
                  </a:lnTo>
                  <a:close/>
                </a:path>
              </a:pathLst>
            </a:custGeom>
            <a:blipFill>
              <a:blip r:embed="rId3"/>
              <a:stretch>
                <a:fillRect t="-3434" b="-3434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2146110" y="1009650"/>
            <a:ext cx="98847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60085" y="1009650"/>
            <a:ext cx="151606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DISCUSSION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701651" y="1009650"/>
            <a:ext cx="155764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CONCLUSION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8185" y="2324100"/>
            <a:ext cx="7271198" cy="6924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000" dirty="0">
                <a:solidFill>
                  <a:schemeClr val="bg1"/>
                </a:solidFill>
              </a:rPr>
              <a:t>Each process gets equal time slice (Quantum)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5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000" dirty="0">
                <a:solidFill>
                  <a:schemeClr val="bg1"/>
                </a:solidFill>
              </a:rPr>
              <a:t>If not finished, it goes to back of queue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5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PH" sz="5000" dirty="0">
                <a:solidFill>
                  <a:schemeClr val="bg1"/>
                </a:solidFill>
              </a:rPr>
              <a:t>Prevents CPU starvation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PH" sz="5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PH" sz="5000" dirty="0">
                <a:solidFill>
                  <a:schemeClr val="bg1"/>
                </a:solidFill>
              </a:rPr>
              <a:t>Fair scheduling method</a:t>
            </a:r>
            <a:endParaRPr lang="en-US" sz="5000" dirty="0">
              <a:solidFill>
                <a:schemeClr val="bg1"/>
              </a:solidFill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19200" y="880529"/>
            <a:ext cx="9266703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500"/>
              </a:lnSpc>
            </a:pPr>
            <a:r>
              <a:rPr lang="en-US" sz="7500" b="1" spc="-300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How it works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6E61B-BF22-9B50-66A6-AA239EC30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B2C3000-3DE4-6C83-9E60-516014C2F2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2CC9123-7C21-B38C-319A-B5771F6B8640}"/>
              </a:ext>
            </a:extLst>
          </p:cNvPr>
          <p:cNvGrpSpPr/>
          <p:nvPr/>
        </p:nvGrpSpPr>
        <p:grpSpPr>
          <a:xfrm>
            <a:off x="5405395" y="4551318"/>
            <a:ext cx="1309371" cy="478928"/>
            <a:chOff x="0" y="0"/>
            <a:chExt cx="344855" cy="12613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CA95667-97B4-9FB6-2018-932DF0D4B508}"/>
                </a:ext>
              </a:extLst>
            </p:cNvPr>
            <p:cNvSpPr/>
            <p:nvPr/>
          </p:nvSpPr>
          <p:spPr>
            <a:xfrm>
              <a:off x="0" y="0"/>
              <a:ext cx="344855" cy="126137"/>
            </a:xfrm>
            <a:custGeom>
              <a:avLst/>
              <a:gdLst/>
              <a:ahLst/>
              <a:cxnLst/>
              <a:rect l="l" t="t" r="r" b="b"/>
              <a:pathLst>
                <a:path w="344855" h="126137">
                  <a:moveTo>
                    <a:pt x="0" y="0"/>
                  </a:moveTo>
                  <a:lnTo>
                    <a:pt x="344855" y="0"/>
                  </a:lnTo>
                  <a:lnTo>
                    <a:pt x="344855" y="126137"/>
                  </a:lnTo>
                  <a:lnTo>
                    <a:pt x="0" y="126137"/>
                  </a:lnTo>
                  <a:close/>
                </a:path>
              </a:pathLst>
            </a:custGeom>
            <a:solidFill>
              <a:srgbClr val="6C0B7B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955E816-EF1B-94D6-E75C-B94B57C91B56}"/>
                </a:ext>
              </a:extLst>
            </p:cNvPr>
            <p:cNvSpPr txBox="1"/>
            <p:nvPr/>
          </p:nvSpPr>
          <p:spPr>
            <a:xfrm>
              <a:off x="0" y="-19050"/>
              <a:ext cx="344855" cy="145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AD9E2386-DFFD-5194-420D-B008DC06C4B9}"/>
              </a:ext>
            </a:extLst>
          </p:cNvPr>
          <p:cNvSpPr txBox="1"/>
          <p:nvPr/>
        </p:nvSpPr>
        <p:spPr>
          <a:xfrm>
            <a:off x="12146110" y="1009650"/>
            <a:ext cx="98847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HOME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02A51C6-5EDE-C806-83C2-51E01C0B5CFE}"/>
              </a:ext>
            </a:extLst>
          </p:cNvPr>
          <p:cNvSpPr txBox="1"/>
          <p:nvPr/>
        </p:nvSpPr>
        <p:spPr>
          <a:xfrm>
            <a:off x="13660085" y="1009650"/>
            <a:ext cx="151606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DISCUSSION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E8429BE-E109-92E0-FAC7-3E3D15B17A85}"/>
              </a:ext>
            </a:extLst>
          </p:cNvPr>
          <p:cNvSpPr txBox="1"/>
          <p:nvPr/>
        </p:nvSpPr>
        <p:spPr>
          <a:xfrm>
            <a:off x="15701651" y="1009650"/>
            <a:ext cx="155764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CONCLUSION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B30B759-41A3-7C61-91F9-2E004F486E2B}"/>
              </a:ext>
            </a:extLst>
          </p:cNvPr>
          <p:cNvSpPr txBox="1"/>
          <p:nvPr/>
        </p:nvSpPr>
        <p:spPr>
          <a:xfrm>
            <a:off x="658184" y="2595766"/>
            <a:ext cx="17325016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000" dirty="0">
                <a:solidFill>
                  <a:schemeClr val="bg1"/>
                </a:solidFill>
              </a:rPr>
              <a:t>Time Quantum defines how long a process can execute before switching to the next process.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000" dirty="0">
              <a:solidFill>
                <a:schemeClr val="bg1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000" dirty="0">
                <a:solidFill>
                  <a:schemeClr val="bg1"/>
                </a:solidFill>
              </a:rPr>
              <a:t>Smaller quantum = faster response but more switching overhead.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5000" dirty="0">
              <a:solidFill>
                <a:schemeClr val="bg1"/>
              </a:solidFill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124D067-1EA4-3E8B-34D6-91214E04919F}"/>
              </a:ext>
            </a:extLst>
          </p:cNvPr>
          <p:cNvSpPr txBox="1"/>
          <p:nvPr/>
        </p:nvSpPr>
        <p:spPr>
          <a:xfrm>
            <a:off x="1219200" y="880529"/>
            <a:ext cx="9266703" cy="985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7500"/>
              </a:lnSpc>
            </a:pPr>
            <a:r>
              <a:rPr lang="en-PH" sz="8000" dirty="0">
                <a:solidFill>
                  <a:schemeClr val="bg1"/>
                </a:solidFill>
              </a:rPr>
              <a:t>Time Quantum</a:t>
            </a:r>
            <a:endParaRPr lang="en-US" sz="7500" b="1" spc="-300" dirty="0">
              <a:solidFill>
                <a:schemeClr val="bg1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53779F6-2A7A-B84A-445F-E2918BA59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385" y="7104481"/>
            <a:ext cx="13651230" cy="245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6792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02A8F-EF76-B716-3FDD-B906B4B64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2E9553-8F42-1072-CEB1-F0343C4C970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315E66-CE87-CD55-CE20-EE4ABBDE6584}"/>
              </a:ext>
            </a:extLst>
          </p:cNvPr>
          <p:cNvGrpSpPr/>
          <p:nvPr/>
        </p:nvGrpSpPr>
        <p:grpSpPr>
          <a:xfrm>
            <a:off x="5405395" y="4551318"/>
            <a:ext cx="1309371" cy="478928"/>
            <a:chOff x="0" y="0"/>
            <a:chExt cx="344855" cy="12613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47DA020-C600-4EDA-58B0-EA48059DCD0C}"/>
                </a:ext>
              </a:extLst>
            </p:cNvPr>
            <p:cNvSpPr/>
            <p:nvPr/>
          </p:nvSpPr>
          <p:spPr>
            <a:xfrm>
              <a:off x="0" y="0"/>
              <a:ext cx="344855" cy="126137"/>
            </a:xfrm>
            <a:custGeom>
              <a:avLst/>
              <a:gdLst/>
              <a:ahLst/>
              <a:cxnLst/>
              <a:rect l="l" t="t" r="r" b="b"/>
              <a:pathLst>
                <a:path w="344855" h="126137">
                  <a:moveTo>
                    <a:pt x="0" y="0"/>
                  </a:moveTo>
                  <a:lnTo>
                    <a:pt x="344855" y="0"/>
                  </a:lnTo>
                  <a:lnTo>
                    <a:pt x="344855" y="126137"/>
                  </a:lnTo>
                  <a:lnTo>
                    <a:pt x="0" y="126137"/>
                  </a:lnTo>
                  <a:close/>
                </a:path>
              </a:pathLst>
            </a:custGeom>
            <a:solidFill>
              <a:srgbClr val="6C0B7B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A5582CA-8E9F-0696-0CF2-2AE129C1884A}"/>
                </a:ext>
              </a:extLst>
            </p:cNvPr>
            <p:cNvSpPr txBox="1"/>
            <p:nvPr/>
          </p:nvSpPr>
          <p:spPr>
            <a:xfrm>
              <a:off x="0" y="-19050"/>
              <a:ext cx="344855" cy="145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876CB01B-8CF2-E260-E5A4-BDE2DC00888B}"/>
              </a:ext>
            </a:extLst>
          </p:cNvPr>
          <p:cNvSpPr txBox="1"/>
          <p:nvPr/>
        </p:nvSpPr>
        <p:spPr>
          <a:xfrm>
            <a:off x="12146110" y="1009650"/>
            <a:ext cx="98847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HOME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4681FB4-36B6-4BCE-6FE9-D7D10A592BBC}"/>
              </a:ext>
            </a:extLst>
          </p:cNvPr>
          <p:cNvSpPr txBox="1"/>
          <p:nvPr/>
        </p:nvSpPr>
        <p:spPr>
          <a:xfrm>
            <a:off x="13660085" y="1009650"/>
            <a:ext cx="151606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DISCUSSION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C39AF69-73E5-7F19-F20F-D1F65A5ABDB3}"/>
              </a:ext>
            </a:extLst>
          </p:cNvPr>
          <p:cNvSpPr txBox="1"/>
          <p:nvPr/>
        </p:nvSpPr>
        <p:spPr>
          <a:xfrm>
            <a:off x="15701651" y="1009650"/>
            <a:ext cx="155764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CONCLUSION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410967C-8276-D216-153C-77FA46E97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66390"/>
            <a:ext cx="16116300" cy="797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373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4E6CB-D9E2-5411-72B0-D83049E33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61488C-6248-36EA-7C09-0C823EEF560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9DE0D97-E77F-7D7D-5F84-6EE6D6F66926}"/>
              </a:ext>
            </a:extLst>
          </p:cNvPr>
          <p:cNvGrpSpPr/>
          <p:nvPr/>
        </p:nvGrpSpPr>
        <p:grpSpPr>
          <a:xfrm>
            <a:off x="5405395" y="4551318"/>
            <a:ext cx="1309371" cy="478928"/>
            <a:chOff x="0" y="0"/>
            <a:chExt cx="344855" cy="12613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AAA6595-D03E-5F8F-F8AA-BAC4CEF45DDB}"/>
                </a:ext>
              </a:extLst>
            </p:cNvPr>
            <p:cNvSpPr/>
            <p:nvPr/>
          </p:nvSpPr>
          <p:spPr>
            <a:xfrm>
              <a:off x="0" y="0"/>
              <a:ext cx="344855" cy="126137"/>
            </a:xfrm>
            <a:custGeom>
              <a:avLst/>
              <a:gdLst/>
              <a:ahLst/>
              <a:cxnLst/>
              <a:rect l="l" t="t" r="r" b="b"/>
              <a:pathLst>
                <a:path w="344855" h="126137">
                  <a:moveTo>
                    <a:pt x="0" y="0"/>
                  </a:moveTo>
                  <a:lnTo>
                    <a:pt x="344855" y="0"/>
                  </a:lnTo>
                  <a:lnTo>
                    <a:pt x="344855" y="126137"/>
                  </a:lnTo>
                  <a:lnTo>
                    <a:pt x="0" y="126137"/>
                  </a:lnTo>
                  <a:close/>
                </a:path>
              </a:pathLst>
            </a:custGeom>
            <a:solidFill>
              <a:srgbClr val="6C0B7B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3696929-8C82-BFAF-8967-2A6E4C3E5EFA}"/>
                </a:ext>
              </a:extLst>
            </p:cNvPr>
            <p:cNvSpPr txBox="1"/>
            <p:nvPr/>
          </p:nvSpPr>
          <p:spPr>
            <a:xfrm>
              <a:off x="0" y="-19050"/>
              <a:ext cx="344855" cy="145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A3A8F01D-15A7-0050-9CCD-AF11549920D3}"/>
              </a:ext>
            </a:extLst>
          </p:cNvPr>
          <p:cNvSpPr txBox="1"/>
          <p:nvPr/>
        </p:nvSpPr>
        <p:spPr>
          <a:xfrm>
            <a:off x="12146110" y="1009650"/>
            <a:ext cx="98847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HOME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A12C919-881E-65AE-C3B1-7079F6D16979}"/>
              </a:ext>
            </a:extLst>
          </p:cNvPr>
          <p:cNvSpPr txBox="1"/>
          <p:nvPr/>
        </p:nvSpPr>
        <p:spPr>
          <a:xfrm>
            <a:off x="13660085" y="1009650"/>
            <a:ext cx="151606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DISCUSSION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EDBD24C-8844-40E1-0D6E-A877CF8D2E27}"/>
              </a:ext>
            </a:extLst>
          </p:cNvPr>
          <p:cNvSpPr txBox="1"/>
          <p:nvPr/>
        </p:nvSpPr>
        <p:spPr>
          <a:xfrm>
            <a:off x="15701651" y="1009650"/>
            <a:ext cx="155764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CONCLUSION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5DC1B3-27CE-D7AE-5B51-1574FC813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66390"/>
            <a:ext cx="16116300" cy="789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249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16D46-DF12-79C0-2828-6E41BD64B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8BAF0F2-668B-49AC-321C-3D5B3181322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468D0BA-0946-D4C4-1E57-17C18E777498}"/>
              </a:ext>
            </a:extLst>
          </p:cNvPr>
          <p:cNvGrpSpPr/>
          <p:nvPr/>
        </p:nvGrpSpPr>
        <p:grpSpPr>
          <a:xfrm>
            <a:off x="5405395" y="4551318"/>
            <a:ext cx="1309371" cy="478928"/>
            <a:chOff x="0" y="0"/>
            <a:chExt cx="344855" cy="12613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636CA9E-4862-D266-C1AC-890876119641}"/>
                </a:ext>
              </a:extLst>
            </p:cNvPr>
            <p:cNvSpPr/>
            <p:nvPr/>
          </p:nvSpPr>
          <p:spPr>
            <a:xfrm>
              <a:off x="0" y="0"/>
              <a:ext cx="344855" cy="126137"/>
            </a:xfrm>
            <a:custGeom>
              <a:avLst/>
              <a:gdLst/>
              <a:ahLst/>
              <a:cxnLst/>
              <a:rect l="l" t="t" r="r" b="b"/>
              <a:pathLst>
                <a:path w="344855" h="126137">
                  <a:moveTo>
                    <a:pt x="0" y="0"/>
                  </a:moveTo>
                  <a:lnTo>
                    <a:pt x="344855" y="0"/>
                  </a:lnTo>
                  <a:lnTo>
                    <a:pt x="344855" y="126137"/>
                  </a:lnTo>
                  <a:lnTo>
                    <a:pt x="0" y="126137"/>
                  </a:lnTo>
                  <a:close/>
                </a:path>
              </a:pathLst>
            </a:custGeom>
            <a:solidFill>
              <a:srgbClr val="6C0B7B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D8EED73-3528-A4F5-F115-4244CA7E923A}"/>
                </a:ext>
              </a:extLst>
            </p:cNvPr>
            <p:cNvSpPr txBox="1"/>
            <p:nvPr/>
          </p:nvSpPr>
          <p:spPr>
            <a:xfrm>
              <a:off x="0" y="-19050"/>
              <a:ext cx="344855" cy="145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B0BFBC62-A0CC-6076-9312-D4155D7072A5}"/>
              </a:ext>
            </a:extLst>
          </p:cNvPr>
          <p:cNvSpPr txBox="1"/>
          <p:nvPr/>
        </p:nvSpPr>
        <p:spPr>
          <a:xfrm>
            <a:off x="12146110" y="1009650"/>
            <a:ext cx="98847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HOME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A2DF5F5-29D2-E3BF-4AAE-7833CE290897}"/>
              </a:ext>
            </a:extLst>
          </p:cNvPr>
          <p:cNvSpPr txBox="1"/>
          <p:nvPr/>
        </p:nvSpPr>
        <p:spPr>
          <a:xfrm>
            <a:off x="13660085" y="1009650"/>
            <a:ext cx="151606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DISCUSSION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4AC072C-5787-BD0E-851B-BCC89A19E6AD}"/>
              </a:ext>
            </a:extLst>
          </p:cNvPr>
          <p:cNvSpPr txBox="1"/>
          <p:nvPr/>
        </p:nvSpPr>
        <p:spPr>
          <a:xfrm>
            <a:off x="15701651" y="1009650"/>
            <a:ext cx="155764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C78446-1059-F969-2E63-8C270E819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66390"/>
            <a:ext cx="16116300" cy="789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4204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F88DC-F20D-A1A3-1BBD-4FE6D6FBC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E1A50AB-7907-2D03-782B-803C47FB4BD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B1F37FF-F0F5-3860-73D6-A522A189BC18}"/>
              </a:ext>
            </a:extLst>
          </p:cNvPr>
          <p:cNvGrpSpPr/>
          <p:nvPr/>
        </p:nvGrpSpPr>
        <p:grpSpPr>
          <a:xfrm>
            <a:off x="5405395" y="4551318"/>
            <a:ext cx="1309371" cy="478928"/>
            <a:chOff x="0" y="0"/>
            <a:chExt cx="344855" cy="12613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9B0CEED-B8AD-B550-CEEA-F7552440A21D}"/>
                </a:ext>
              </a:extLst>
            </p:cNvPr>
            <p:cNvSpPr/>
            <p:nvPr/>
          </p:nvSpPr>
          <p:spPr>
            <a:xfrm>
              <a:off x="0" y="0"/>
              <a:ext cx="344855" cy="126137"/>
            </a:xfrm>
            <a:custGeom>
              <a:avLst/>
              <a:gdLst/>
              <a:ahLst/>
              <a:cxnLst/>
              <a:rect l="l" t="t" r="r" b="b"/>
              <a:pathLst>
                <a:path w="344855" h="126137">
                  <a:moveTo>
                    <a:pt x="0" y="0"/>
                  </a:moveTo>
                  <a:lnTo>
                    <a:pt x="344855" y="0"/>
                  </a:lnTo>
                  <a:lnTo>
                    <a:pt x="344855" y="126137"/>
                  </a:lnTo>
                  <a:lnTo>
                    <a:pt x="0" y="126137"/>
                  </a:lnTo>
                  <a:close/>
                </a:path>
              </a:pathLst>
            </a:custGeom>
            <a:solidFill>
              <a:srgbClr val="6C0B7B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D5C3C39-7EC7-222F-8360-DEE6144AC3C9}"/>
                </a:ext>
              </a:extLst>
            </p:cNvPr>
            <p:cNvSpPr txBox="1"/>
            <p:nvPr/>
          </p:nvSpPr>
          <p:spPr>
            <a:xfrm>
              <a:off x="0" y="-19050"/>
              <a:ext cx="344855" cy="145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DD8B9D1E-4A80-866B-29E1-8BAFA66C42D0}"/>
              </a:ext>
            </a:extLst>
          </p:cNvPr>
          <p:cNvSpPr txBox="1"/>
          <p:nvPr/>
        </p:nvSpPr>
        <p:spPr>
          <a:xfrm>
            <a:off x="12146110" y="1009650"/>
            <a:ext cx="98847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HOME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52AEAFB-4970-8B32-C47A-D030355D3C26}"/>
              </a:ext>
            </a:extLst>
          </p:cNvPr>
          <p:cNvSpPr txBox="1"/>
          <p:nvPr/>
        </p:nvSpPr>
        <p:spPr>
          <a:xfrm>
            <a:off x="13660085" y="1009650"/>
            <a:ext cx="151606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DISCUSSION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8211514-DFDA-4140-7C57-2828A9628D47}"/>
              </a:ext>
            </a:extLst>
          </p:cNvPr>
          <p:cNvSpPr txBox="1"/>
          <p:nvPr/>
        </p:nvSpPr>
        <p:spPr>
          <a:xfrm>
            <a:off x="15701651" y="1009650"/>
            <a:ext cx="155764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CONCLUSION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7DA78-1C59-9184-360C-5629BCCF7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66390"/>
            <a:ext cx="16116299" cy="789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00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387996" y="4472177"/>
            <a:ext cx="1309371" cy="478928"/>
            <a:chOff x="0" y="0"/>
            <a:chExt cx="344855" cy="1261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4855" cy="126137"/>
            </a:xfrm>
            <a:custGeom>
              <a:avLst/>
              <a:gdLst/>
              <a:ahLst/>
              <a:cxnLst/>
              <a:rect l="l" t="t" r="r" b="b"/>
              <a:pathLst>
                <a:path w="344855" h="126137">
                  <a:moveTo>
                    <a:pt x="0" y="0"/>
                  </a:moveTo>
                  <a:lnTo>
                    <a:pt x="344855" y="0"/>
                  </a:lnTo>
                  <a:lnTo>
                    <a:pt x="344855" y="126137"/>
                  </a:lnTo>
                  <a:lnTo>
                    <a:pt x="0" y="126137"/>
                  </a:lnTo>
                  <a:close/>
                </a:path>
              </a:pathLst>
            </a:custGeom>
            <a:solidFill>
              <a:srgbClr val="6C0B7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44855" cy="145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146110" y="1009650"/>
            <a:ext cx="98847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HOME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660085" y="1009650"/>
            <a:ext cx="151606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DISCUSSION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701651" y="1009650"/>
            <a:ext cx="155764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CONCLUSION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2083" y="2759230"/>
            <a:ext cx="7603442" cy="1089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8288"/>
              </a:lnSpc>
            </a:pPr>
            <a:r>
              <a:rPr lang="en-PH" sz="8500" dirty="0">
                <a:solidFill>
                  <a:schemeClr val="bg1"/>
                </a:solidFill>
              </a:rPr>
              <a:t>System Features</a:t>
            </a:r>
            <a:endParaRPr lang="en-US" sz="8500" b="1" spc="-331" dirty="0">
              <a:solidFill>
                <a:schemeClr val="bg1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075524" y="6378648"/>
            <a:ext cx="9183776" cy="332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Add/Edit/Delete Processes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 Editable Table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 Dynamic Gantt Chart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 Average Waiting Time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 Average Turnaround Time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 Export to PDF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27FBA5-B297-5721-76EA-41275D161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272" y="1785534"/>
            <a:ext cx="9747767" cy="42456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B674E7-6B81-0173-16E5-7A05B72F8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54" y="4339035"/>
            <a:ext cx="6878010" cy="5363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079166" y="3604373"/>
            <a:ext cx="1309371" cy="478928"/>
            <a:chOff x="0" y="0"/>
            <a:chExt cx="344855" cy="1261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4855" cy="126137"/>
            </a:xfrm>
            <a:custGeom>
              <a:avLst/>
              <a:gdLst/>
              <a:ahLst/>
              <a:cxnLst/>
              <a:rect l="l" t="t" r="r" b="b"/>
              <a:pathLst>
                <a:path w="344855" h="126137">
                  <a:moveTo>
                    <a:pt x="0" y="0"/>
                  </a:moveTo>
                  <a:lnTo>
                    <a:pt x="344855" y="0"/>
                  </a:lnTo>
                  <a:lnTo>
                    <a:pt x="344855" y="126137"/>
                  </a:lnTo>
                  <a:lnTo>
                    <a:pt x="0" y="126137"/>
                  </a:lnTo>
                  <a:close/>
                </a:path>
              </a:pathLst>
            </a:custGeom>
            <a:solidFill>
              <a:srgbClr val="6C0B7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344855" cy="145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146110" y="1009650"/>
            <a:ext cx="98847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HOME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60085" y="1009650"/>
            <a:ext cx="151606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DISCUSSION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701651" y="1009650"/>
            <a:ext cx="155764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CONCLUSION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-3581400" y="492681"/>
            <a:ext cx="15887700" cy="10339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algn="ctr">
              <a:lnSpc>
                <a:spcPts val="8000"/>
              </a:lnSpc>
            </a:pPr>
            <a:r>
              <a:rPr lang="en-PH" sz="8000" dirty="0">
                <a:solidFill>
                  <a:schemeClr val="bg1"/>
                </a:solidFill>
              </a:rPr>
              <a:t>System Interface</a:t>
            </a:r>
            <a:endParaRPr lang="en-US" sz="8000" b="1" spc="-320" dirty="0">
              <a:solidFill>
                <a:schemeClr val="bg1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D439CA-418D-DD98-6633-5439C2B45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171700"/>
            <a:ext cx="15887699" cy="7772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33847-2E43-5C9C-5ACE-E799C7FDA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B9F780-EE96-2A53-E226-BF1EEA0DA7C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B09C209-7937-8850-D713-A0495FF7F870}"/>
              </a:ext>
            </a:extLst>
          </p:cNvPr>
          <p:cNvGrpSpPr/>
          <p:nvPr/>
        </p:nvGrpSpPr>
        <p:grpSpPr>
          <a:xfrm>
            <a:off x="5486391" y="2948155"/>
            <a:ext cx="1309371" cy="478928"/>
            <a:chOff x="0" y="0"/>
            <a:chExt cx="344855" cy="12613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DFAA97F-B270-D259-DC4D-72963A27A7E7}"/>
                </a:ext>
              </a:extLst>
            </p:cNvPr>
            <p:cNvSpPr/>
            <p:nvPr/>
          </p:nvSpPr>
          <p:spPr>
            <a:xfrm>
              <a:off x="0" y="0"/>
              <a:ext cx="344855" cy="126137"/>
            </a:xfrm>
            <a:custGeom>
              <a:avLst/>
              <a:gdLst/>
              <a:ahLst/>
              <a:cxnLst/>
              <a:rect l="l" t="t" r="r" b="b"/>
              <a:pathLst>
                <a:path w="344855" h="126137">
                  <a:moveTo>
                    <a:pt x="0" y="0"/>
                  </a:moveTo>
                  <a:lnTo>
                    <a:pt x="344855" y="0"/>
                  </a:lnTo>
                  <a:lnTo>
                    <a:pt x="344855" y="126137"/>
                  </a:lnTo>
                  <a:lnTo>
                    <a:pt x="0" y="126137"/>
                  </a:lnTo>
                  <a:close/>
                </a:path>
              </a:pathLst>
            </a:custGeom>
            <a:solidFill>
              <a:srgbClr val="6C0B7B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C39E065-BAC5-F34E-FFDA-46F611D3F659}"/>
                </a:ext>
              </a:extLst>
            </p:cNvPr>
            <p:cNvSpPr txBox="1"/>
            <p:nvPr/>
          </p:nvSpPr>
          <p:spPr>
            <a:xfrm>
              <a:off x="0" y="-19050"/>
              <a:ext cx="344855" cy="145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2318C773-1D9C-3CD7-40BD-727B7D4E7CE8}"/>
              </a:ext>
            </a:extLst>
          </p:cNvPr>
          <p:cNvSpPr txBox="1"/>
          <p:nvPr/>
        </p:nvSpPr>
        <p:spPr>
          <a:xfrm>
            <a:off x="12146110" y="1009650"/>
            <a:ext cx="98847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HOME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7DF44EA-63BE-F0BC-468B-A5AB3CCDDC0E}"/>
              </a:ext>
            </a:extLst>
          </p:cNvPr>
          <p:cNvSpPr txBox="1"/>
          <p:nvPr/>
        </p:nvSpPr>
        <p:spPr>
          <a:xfrm>
            <a:off x="13660085" y="1009650"/>
            <a:ext cx="151606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DISCUSSION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3C764F7-7F94-B7B3-470E-4F91307580A9}"/>
              </a:ext>
            </a:extLst>
          </p:cNvPr>
          <p:cNvSpPr txBox="1"/>
          <p:nvPr/>
        </p:nvSpPr>
        <p:spPr>
          <a:xfrm>
            <a:off x="15701651" y="1009650"/>
            <a:ext cx="155764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CONCLUSION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29D409D-E71F-B019-0EC8-17B666E16307}"/>
              </a:ext>
            </a:extLst>
          </p:cNvPr>
          <p:cNvSpPr txBox="1"/>
          <p:nvPr/>
        </p:nvSpPr>
        <p:spPr>
          <a:xfrm>
            <a:off x="566026" y="1213127"/>
            <a:ext cx="7075676" cy="1064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8288"/>
              </a:lnSpc>
            </a:pPr>
            <a:r>
              <a:rPr lang="en-PH" sz="8000" dirty="0">
                <a:solidFill>
                  <a:schemeClr val="bg1"/>
                </a:solidFill>
              </a:rPr>
              <a:t>Algorithm Logic</a:t>
            </a:r>
            <a:endParaRPr lang="en-US" sz="8000" b="1" spc="-331" dirty="0">
              <a:solidFill>
                <a:schemeClr val="bg1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2C903F7-9505-8EA7-FD5E-E6154306B6E2}"/>
              </a:ext>
            </a:extLst>
          </p:cNvPr>
          <p:cNvSpPr txBox="1"/>
          <p:nvPr/>
        </p:nvSpPr>
        <p:spPr>
          <a:xfrm>
            <a:off x="566026" y="2948155"/>
            <a:ext cx="11016374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6000" dirty="0">
                <a:solidFill>
                  <a:schemeClr val="bg1"/>
                </a:solidFill>
              </a:rPr>
              <a:t>Processes stored in queue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6000" dirty="0">
                <a:solidFill>
                  <a:schemeClr val="bg1"/>
                </a:solidFill>
              </a:rPr>
              <a:t>Execution based on arrival time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6000" dirty="0">
                <a:solidFill>
                  <a:schemeClr val="bg1"/>
                </a:solidFill>
              </a:rPr>
              <a:t>Remaining burst tracked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6000" dirty="0">
                <a:solidFill>
                  <a:schemeClr val="bg1"/>
                </a:solidFill>
              </a:rPr>
              <a:t>Completion time computed dynamically</a:t>
            </a:r>
          </a:p>
        </p:txBody>
      </p:sp>
    </p:spTree>
    <p:extLst>
      <p:ext uri="{BB962C8B-B14F-4D97-AF65-F5344CB8AC3E}">
        <p14:creationId xmlns:p14="http://schemas.microsoft.com/office/powerpoint/2010/main" val="10903086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A2D00-9919-49E1-7C13-C5DB73BBD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A030AF1-A74E-5346-F3E3-97EC1FC989B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ECB8811-7AF3-8DD8-3969-5633609F5B1D}"/>
              </a:ext>
            </a:extLst>
          </p:cNvPr>
          <p:cNvGrpSpPr/>
          <p:nvPr/>
        </p:nvGrpSpPr>
        <p:grpSpPr>
          <a:xfrm>
            <a:off x="5486391" y="2948155"/>
            <a:ext cx="1309371" cy="478928"/>
            <a:chOff x="0" y="0"/>
            <a:chExt cx="344855" cy="12613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3CAB024-354E-3E45-F76B-DE8B5C5D0656}"/>
                </a:ext>
              </a:extLst>
            </p:cNvPr>
            <p:cNvSpPr/>
            <p:nvPr/>
          </p:nvSpPr>
          <p:spPr>
            <a:xfrm>
              <a:off x="0" y="0"/>
              <a:ext cx="344855" cy="126137"/>
            </a:xfrm>
            <a:custGeom>
              <a:avLst/>
              <a:gdLst/>
              <a:ahLst/>
              <a:cxnLst/>
              <a:rect l="l" t="t" r="r" b="b"/>
              <a:pathLst>
                <a:path w="344855" h="126137">
                  <a:moveTo>
                    <a:pt x="0" y="0"/>
                  </a:moveTo>
                  <a:lnTo>
                    <a:pt x="344855" y="0"/>
                  </a:lnTo>
                  <a:lnTo>
                    <a:pt x="344855" y="126137"/>
                  </a:lnTo>
                  <a:lnTo>
                    <a:pt x="0" y="126137"/>
                  </a:lnTo>
                  <a:close/>
                </a:path>
              </a:pathLst>
            </a:custGeom>
            <a:solidFill>
              <a:srgbClr val="6C0B7B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F5538D0-AD56-8C42-8521-01BE2F4343FB}"/>
                </a:ext>
              </a:extLst>
            </p:cNvPr>
            <p:cNvSpPr txBox="1"/>
            <p:nvPr/>
          </p:nvSpPr>
          <p:spPr>
            <a:xfrm>
              <a:off x="0" y="-19050"/>
              <a:ext cx="344855" cy="145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AE14F9D2-1A7B-26C6-E47F-4627B0BD2286}"/>
              </a:ext>
            </a:extLst>
          </p:cNvPr>
          <p:cNvSpPr txBox="1"/>
          <p:nvPr/>
        </p:nvSpPr>
        <p:spPr>
          <a:xfrm>
            <a:off x="12146110" y="1009650"/>
            <a:ext cx="98847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HOME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42C0E52-4A80-2457-1D4E-A71CDAEC49DE}"/>
              </a:ext>
            </a:extLst>
          </p:cNvPr>
          <p:cNvSpPr txBox="1"/>
          <p:nvPr/>
        </p:nvSpPr>
        <p:spPr>
          <a:xfrm>
            <a:off x="13660085" y="1009650"/>
            <a:ext cx="151606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DISCUSSION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433D50F-F196-9112-2C9B-FC03603BB908}"/>
              </a:ext>
            </a:extLst>
          </p:cNvPr>
          <p:cNvSpPr txBox="1"/>
          <p:nvPr/>
        </p:nvSpPr>
        <p:spPr>
          <a:xfrm>
            <a:off x="15701651" y="1009650"/>
            <a:ext cx="155764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CONCLUSION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8B37E43-DBE9-A2A9-E1F2-52BBA9890D53}"/>
              </a:ext>
            </a:extLst>
          </p:cNvPr>
          <p:cNvSpPr txBox="1"/>
          <p:nvPr/>
        </p:nvSpPr>
        <p:spPr>
          <a:xfrm>
            <a:off x="566026" y="1213127"/>
            <a:ext cx="7075676" cy="1064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8288"/>
              </a:lnSpc>
            </a:pPr>
            <a:r>
              <a:rPr lang="en-PH" sz="8000" dirty="0">
                <a:solidFill>
                  <a:schemeClr val="bg1"/>
                </a:solidFill>
              </a:rPr>
              <a:t>Gantt Chart</a:t>
            </a:r>
            <a:endParaRPr lang="en-US" sz="8000" b="1" spc="-331" dirty="0">
              <a:solidFill>
                <a:schemeClr val="bg1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D41DD82-851D-62FF-FE3B-F0FF1B145D4B}"/>
              </a:ext>
            </a:extLst>
          </p:cNvPr>
          <p:cNvSpPr txBox="1"/>
          <p:nvPr/>
        </p:nvSpPr>
        <p:spPr>
          <a:xfrm>
            <a:off x="566026" y="2948155"/>
            <a:ext cx="11016374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- Visual representation of CPU execution order.</a:t>
            </a:r>
          </a:p>
          <a:p>
            <a:r>
              <a:rPr lang="en-US" sz="6000" dirty="0">
                <a:solidFill>
                  <a:schemeClr val="bg1"/>
                </a:solidFill>
              </a:rPr>
              <a:t>- Shows which process runs at what time interval.</a:t>
            </a:r>
          </a:p>
        </p:txBody>
      </p:sp>
    </p:spTree>
    <p:extLst>
      <p:ext uri="{BB962C8B-B14F-4D97-AF65-F5344CB8AC3E}">
        <p14:creationId xmlns:p14="http://schemas.microsoft.com/office/powerpoint/2010/main" val="5375078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AA1BF-C426-2D79-957F-674F8ADD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AEABFE-2401-B472-79E6-1A7068D1ED4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A97BAE9-D0DB-ADAD-9BD8-3D55FCA81F74}"/>
              </a:ext>
            </a:extLst>
          </p:cNvPr>
          <p:cNvGrpSpPr/>
          <p:nvPr/>
        </p:nvGrpSpPr>
        <p:grpSpPr>
          <a:xfrm>
            <a:off x="5486391" y="2948155"/>
            <a:ext cx="1309371" cy="478928"/>
            <a:chOff x="0" y="0"/>
            <a:chExt cx="344855" cy="12613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3FCFFAD-D28C-A0B0-8D60-4D471F85D377}"/>
                </a:ext>
              </a:extLst>
            </p:cNvPr>
            <p:cNvSpPr/>
            <p:nvPr/>
          </p:nvSpPr>
          <p:spPr>
            <a:xfrm>
              <a:off x="0" y="0"/>
              <a:ext cx="344855" cy="126137"/>
            </a:xfrm>
            <a:custGeom>
              <a:avLst/>
              <a:gdLst/>
              <a:ahLst/>
              <a:cxnLst/>
              <a:rect l="l" t="t" r="r" b="b"/>
              <a:pathLst>
                <a:path w="344855" h="126137">
                  <a:moveTo>
                    <a:pt x="0" y="0"/>
                  </a:moveTo>
                  <a:lnTo>
                    <a:pt x="344855" y="0"/>
                  </a:lnTo>
                  <a:lnTo>
                    <a:pt x="344855" y="126137"/>
                  </a:lnTo>
                  <a:lnTo>
                    <a:pt x="0" y="126137"/>
                  </a:lnTo>
                  <a:close/>
                </a:path>
              </a:pathLst>
            </a:custGeom>
            <a:solidFill>
              <a:srgbClr val="6C0B7B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3C8094E-F27D-27DB-A1B4-C7FA172A43C2}"/>
                </a:ext>
              </a:extLst>
            </p:cNvPr>
            <p:cNvSpPr txBox="1"/>
            <p:nvPr/>
          </p:nvSpPr>
          <p:spPr>
            <a:xfrm>
              <a:off x="0" y="-19050"/>
              <a:ext cx="344855" cy="145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B74EC848-7D1A-5089-87B6-14D0D3DB2226}"/>
              </a:ext>
            </a:extLst>
          </p:cNvPr>
          <p:cNvSpPr txBox="1"/>
          <p:nvPr/>
        </p:nvSpPr>
        <p:spPr>
          <a:xfrm>
            <a:off x="12146110" y="1009650"/>
            <a:ext cx="98847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HOME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71C109B-159E-9091-B85E-B78DBBA1ACD2}"/>
              </a:ext>
            </a:extLst>
          </p:cNvPr>
          <p:cNvSpPr txBox="1"/>
          <p:nvPr/>
        </p:nvSpPr>
        <p:spPr>
          <a:xfrm>
            <a:off x="13660085" y="1009650"/>
            <a:ext cx="151606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DISCUSSION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77F5E91-E986-7506-1512-E7561AB859B0}"/>
              </a:ext>
            </a:extLst>
          </p:cNvPr>
          <p:cNvSpPr txBox="1"/>
          <p:nvPr/>
        </p:nvSpPr>
        <p:spPr>
          <a:xfrm>
            <a:off x="15701651" y="1009650"/>
            <a:ext cx="155764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CONCLUSION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B1CEDAE-711A-313B-29C9-D6CC37A8F282}"/>
              </a:ext>
            </a:extLst>
          </p:cNvPr>
          <p:cNvSpPr txBox="1"/>
          <p:nvPr/>
        </p:nvSpPr>
        <p:spPr>
          <a:xfrm>
            <a:off x="304800" y="1627688"/>
            <a:ext cx="9770471" cy="1064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8288"/>
              </a:lnSpc>
            </a:pPr>
            <a:r>
              <a:rPr lang="en-PH" sz="8000" dirty="0">
                <a:solidFill>
                  <a:schemeClr val="bg1"/>
                </a:solidFill>
              </a:rPr>
              <a:t>Performance Metrics</a:t>
            </a:r>
            <a:endParaRPr lang="en-US" sz="8000" b="1" spc="-331" dirty="0">
              <a:solidFill>
                <a:schemeClr val="bg1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04BAE8D-4914-17A2-E8A0-087A5D19932D}"/>
              </a:ext>
            </a:extLst>
          </p:cNvPr>
          <p:cNvSpPr txBox="1"/>
          <p:nvPr/>
        </p:nvSpPr>
        <p:spPr>
          <a:xfrm>
            <a:off x="566026" y="3559296"/>
            <a:ext cx="8577974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500" dirty="0">
                <a:solidFill>
                  <a:schemeClr val="bg1"/>
                </a:solidFill>
              </a:rPr>
              <a:t>Waiting Time = Turnaround - Burst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500" dirty="0">
                <a:solidFill>
                  <a:schemeClr val="bg1"/>
                </a:solidFill>
              </a:rPr>
              <a:t>Turnaround Time = Completion - Arrival</a:t>
            </a:r>
          </a:p>
          <a:p>
            <a:r>
              <a:rPr lang="en-US" sz="4500" dirty="0">
                <a:solidFill>
                  <a:schemeClr val="bg1"/>
                </a:solidFill>
              </a:rPr>
              <a:t>•   Average values show system efficiency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465443-0EE8-5740-2369-9104ED7F2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385627"/>
            <a:ext cx="8349374" cy="689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3193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486391" y="2948155"/>
            <a:ext cx="1309371" cy="478928"/>
            <a:chOff x="0" y="0"/>
            <a:chExt cx="344855" cy="1261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4855" cy="126137"/>
            </a:xfrm>
            <a:custGeom>
              <a:avLst/>
              <a:gdLst/>
              <a:ahLst/>
              <a:cxnLst/>
              <a:rect l="l" t="t" r="r" b="b"/>
              <a:pathLst>
                <a:path w="344855" h="126137">
                  <a:moveTo>
                    <a:pt x="0" y="0"/>
                  </a:moveTo>
                  <a:lnTo>
                    <a:pt x="344855" y="0"/>
                  </a:lnTo>
                  <a:lnTo>
                    <a:pt x="344855" y="126137"/>
                  </a:lnTo>
                  <a:lnTo>
                    <a:pt x="0" y="126137"/>
                  </a:lnTo>
                  <a:close/>
                </a:path>
              </a:pathLst>
            </a:custGeom>
            <a:solidFill>
              <a:srgbClr val="6C0B7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344855" cy="145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3999826"/>
            <a:ext cx="7075676" cy="4169096"/>
            <a:chOff x="0" y="0"/>
            <a:chExt cx="1096207" cy="6459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6207" cy="645902"/>
            </a:xfrm>
            <a:custGeom>
              <a:avLst/>
              <a:gdLst/>
              <a:ahLst/>
              <a:cxnLst/>
              <a:rect l="l" t="t" r="r" b="b"/>
              <a:pathLst>
                <a:path w="1096207" h="645902">
                  <a:moveTo>
                    <a:pt x="0" y="0"/>
                  </a:moveTo>
                  <a:lnTo>
                    <a:pt x="1096207" y="0"/>
                  </a:lnTo>
                  <a:lnTo>
                    <a:pt x="1096207" y="645902"/>
                  </a:lnTo>
                  <a:lnTo>
                    <a:pt x="0" y="645902"/>
                  </a:lnTo>
                  <a:close/>
                </a:path>
              </a:pathLst>
            </a:custGeom>
            <a:blipFill>
              <a:blip r:embed="rId3"/>
              <a:stretch>
                <a:fillRect t="-6572" b="-657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7612215" y="1812971"/>
            <a:ext cx="10419159" cy="3228223"/>
            <a:chOff x="0" y="0"/>
            <a:chExt cx="1649617" cy="6115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49617" cy="611591"/>
            </a:xfrm>
            <a:custGeom>
              <a:avLst/>
              <a:gdLst/>
              <a:ahLst/>
              <a:cxnLst/>
              <a:rect l="l" t="t" r="r" b="b"/>
              <a:pathLst>
                <a:path w="1649617" h="611591">
                  <a:moveTo>
                    <a:pt x="0" y="0"/>
                  </a:moveTo>
                  <a:lnTo>
                    <a:pt x="1649617" y="0"/>
                  </a:lnTo>
                  <a:lnTo>
                    <a:pt x="1649617" y="611591"/>
                  </a:lnTo>
                  <a:lnTo>
                    <a:pt x="0" y="611591"/>
                  </a:lnTo>
                  <a:close/>
                </a:path>
              </a:pathLst>
            </a:custGeom>
            <a:blipFill>
              <a:blip r:embed="rId4"/>
              <a:stretch>
                <a:fillRect t="-39908" b="-39908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2146110" y="1009650"/>
            <a:ext cx="98847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HOME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660085" y="1009650"/>
            <a:ext cx="151606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DISCUSSION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701651" y="1009650"/>
            <a:ext cx="155764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CONCLUSION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2321216"/>
            <a:ext cx="5767061" cy="1089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8288"/>
              </a:lnSpc>
            </a:pPr>
            <a:r>
              <a:rPr lang="en-PH" sz="8800" dirty="0">
                <a:solidFill>
                  <a:schemeClr val="bg1"/>
                </a:solidFill>
              </a:rPr>
              <a:t>Conclusion</a:t>
            </a:r>
            <a:endParaRPr lang="en-US" sz="8288" b="1" spc="-331" dirty="0">
              <a:solidFill>
                <a:schemeClr val="bg1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612214" y="5604213"/>
            <a:ext cx="10419159" cy="4847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500" dirty="0">
                <a:solidFill>
                  <a:schemeClr val="bg1"/>
                </a:solidFill>
              </a:rPr>
              <a:t>Round Robin Scheduling is an efficient and fair CPU scheduling algorithm. It improves system responsiveness and avoids starvation. The simulator helps users learn and analyze scheduling effectively.</a:t>
            </a:r>
          </a:p>
          <a:p>
            <a:endParaRPr lang="en-US" sz="4500" dirty="0">
              <a:solidFill>
                <a:schemeClr val="bg1"/>
              </a:solidFill>
            </a:endParaRPr>
          </a:p>
          <a:p>
            <a:endParaRPr lang="en-US" sz="4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32530-1E01-0444-A2E3-68152D98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2EBB7F-7053-37EB-16BB-7F67EF0C2E9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168D92F-B82E-556A-107D-E10F1EB7B886}"/>
              </a:ext>
            </a:extLst>
          </p:cNvPr>
          <p:cNvGrpSpPr/>
          <p:nvPr/>
        </p:nvGrpSpPr>
        <p:grpSpPr>
          <a:xfrm>
            <a:off x="2289301" y="5275006"/>
            <a:ext cx="13709398" cy="706705"/>
            <a:chOff x="0" y="0"/>
            <a:chExt cx="3610706" cy="1861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21B968F-B8DC-7170-551A-AAFB1441E338}"/>
                </a:ext>
              </a:extLst>
            </p:cNvPr>
            <p:cNvSpPr/>
            <p:nvPr/>
          </p:nvSpPr>
          <p:spPr>
            <a:xfrm>
              <a:off x="0" y="0"/>
              <a:ext cx="3610706" cy="186128"/>
            </a:xfrm>
            <a:custGeom>
              <a:avLst/>
              <a:gdLst/>
              <a:ahLst/>
              <a:cxnLst/>
              <a:rect l="l" t="t" r="r" b="b"/>
              <a:pathLst>
                <a:path w="3610706" h="186128">
                  <a:moveTo>
                    <a:pt x="0" y="0"/>
                  </a:moveTo>
                  <a:lnTo>
                    <a:pt x="3610706" y="0"/>
                  </a:lnTo>
                  <a:lnTo>
                    <a:pt x="3610706" y="186128"/>
                  </a:lnTo>
                  <a:lnTo>
                    <a:pt x="0" y="186128"/>
                  </a:lnTo>
                  <a:close/>
                </a:path>
              </a:pathLst>
            </a:custGeom>
            <a:solidFill>
              <a:srgbClr val="6C0B7B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62A3FA5-868E-4FB6-85B2-A7C21F605213}"/>
                </a:ext>
              </a:extLst>
            </p:cNvPr>
            <p:cNvSpPr txBox="1"/>
            <p:nvPr/>
          </p:nvSpPr>
          <p:spPr>
            <a:xfrm>
              <a:off x="0" y="-19050"/>
              <a:ext cx="3610706" cy="2051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53BC03DA-A0E0-65A1-502F-741E60CB2508}"/>
              </a:ext>
            </a:extLst>
          </p:cNvPr>
          <p:cNvSpPr txBox="1"/>
          <p:nvPr/>
        </p:nvSpPr>
        <p:spPr>
          <a:xfrm>
            <a:off x="12146110" y="1009650"/>
            <a:ext cx="98847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HOME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2F93088-1731-4BA2-E0D7-6A61FEAC6B7E}"/>
              </a:ext>
            </a:extLst>
          </p:cNvPr>
          <p:cNvSpPr txBox="1"/>
          <p:nvPr/>
        </p:nvSpPr>
        <p:spPr>
          <a:xfrm>
            <a:off x="13660085" y="1009650"/>
            <a:ext cx="151606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DISCUSSION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0F25D38-9886-A1E4-C97F-8B8EDF030D42}"/>
              </a:ext>
            </a:extLst>
          </p:cNvPr>
          <p:cNvSpPr txBox="1"/>
          <p:nvPr/>
        </p:nvSpPr>
        <p:spPr>
          <a:xfrm>
            <a:off x="15701651" y="1009650"/>
            <a:ext cx="1557649" cy="27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186"/>
              </a:lnSpc>
              <a:spcBef>
                <a:spcPct val="0"/>
              </a:spcBef>
            </a:pPr>
            <a:r>
              <a:rPr lang="en-US" sz="1695">
                <a:solidFill>
                  <a:srgbClr val="FFFFFF">
                    <a:alpha val="60000"/>
                  </a:srgbClr>
                </a:solidFill>
                <a:latin typeface="TT Fors"/>
                <a:ea typeface="TT Fors"/>
                <a:cs typeface="TT Fors"/>
                <a:sym typeface="TT Fors"/>
              </a:rPr>
              <a:t>CONCLUSION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3C3A802-F9FF-2E8B-D0AF-C9E5CAEF7503}"/>
              </a:ext>
            </a:extLst>
          </p:cNvPr>
          <p:cNvSpPr txBox="1"/>
          <p:nvPr/>
        </p:nvSpPr>
        <p:spPr>
          <a:xfrm>
            <a:off x="4419447" y="3844230"/>
            <a:ext cx="9449106" cy="1196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257"/>
              </a:lnSpc>
            </a:pPr>
            <a:r>
              <a:rPr lang="en-US" sz="10000" b="1" dirty="0">
                <a:solidFill>
                  <a:srgbClr val="0CC0DF"/>
                </a:solidFill>
                <a:latin typeface="Inter Bold"/>
                <a:ea typeface="Inter Bold"/>
                <a:cs typeface="Inter Bold"/>
                <a:sym typeface="Inter Bold"/>
              </a:rPr>
              <a:t>Thank You 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D87A997-620F-C54B-B25C-F854156B33F6}"/>
              </a:ext>
            </a:extLst>
          </p:cNvPr>
          <p:cNvSpPr txBox="1"/>
          <p:nvPr/>
        </p:nvSpPr>
        <p:spPr>
          <a:xfrm>
            <a:off x="4786281" y="6222794"/>
            <a:ext cx="8715438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39"/>
              </a:lnSpc>
              <a:spcBef>
                <a:spcPct val="0"/>
              </a:spcBef>
            </a:pPr>
            <a:r>
              <a:rPr lang="en-US" sz="3099" spc="92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Presented by Group 2</a:t>
            </a:r>
          </a:p>
        </p:txBody>
      </p:sp>
    </p:spTree>
    <p:extLst>
      <p:ext uri="{BB962C8B-B14F-4D97-AF65-F5344CB8AC3E}">
        <p14:creationId xmlns:p14="http://schemas.microsoft.com/office/powerpoint/2010/main" val="183335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316</Words>
  <Application>Microsoft Office PowerPoint</Application>
  <PresentationFormat>Custom</PresentationFormat>
  <Paragraphs>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TT Fors</vt:lpstr>
      <vt:lpstr>Calibri</vt:lpstr>
      <vt:lpstr>TT Fors Bold</vt:lpstr>
      <vt:lpstr>Poppins Bold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Black Modern Computer Presentation</dc:title>
  <dc:creator>Jervin I. Bas</dc:creator>
  <cp:lastModifiedBy>Von Jaycel Bas</cp:lastModifiedBy>
  <cp:revision>2</cp:revision>
  <dcterms:created xsi:type="dcterms:W3CDTF">2006-08-16T00:00:00Z</dcterms:created>
  <dcterms:modified xsi:type="dcterms:W3CDTF">2026-05-22T15:25:54Z</dcterms:modified>
  <dc:identifier>DAG7QRxeWHc</dc:identifier>
</cp:coreProperties>
</file>